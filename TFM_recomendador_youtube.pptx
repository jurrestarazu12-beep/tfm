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8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8919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02920"/>
            <a:ext cx="1296162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95" b="1" dirty="0">
                <a:solidFill>
                  <a:srgbClr val="FF4B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evolve</a:t>
            </a:r>
            <a:endParaRPr lang="en-US" sz="1995" dirty="0"/>
          </a:p>
        </p:txBody>
      </p:sp>
      <p:sp>
        <p:nvSpPr>
          <p:cNvPr id="3" name="Text 1"/>
          <p:cNvSpPr/>
          <p:nvPr/>
        </p:nvSpPr>
        <p:spPr>
          <a:xfrm>
            <a:off x="2177186" y="627736"/>
            <a:ext cx="1200150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93" dirty="0"/>
          </a:p>
        </p:txBody>
      </p:sp>
      <p:sp>
        <p:nvSpPr>
          <p:cNvPr id="4" name="Shape 2"/>
          <p:cNvSpPr/>
          <p:nvPr/>
        </p:nvSpPr>
        <p:spPr>
          <a:xfrm>
            <a:off x="9829800" y="0"/>
            <a:ext cx="2359152" cy="6858000"/>
          </a:xfrm>
          <a:prstGeom prst="rect">
            <a:avLst/>
          </a:prstGeom>
          <a:solidFill>
            <a:srgbClr val="161A27"/>
          </a:solidFill>
          <a:ln w="12700">
            <a:solidFill>
              <a:srgbClr val="161A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8823960" y="4069080"/>
            <a:ext cx="2377440" cy="2377440"/>
          </a:xfrm>
          <a:prstGeom prst="arc">
            <a:avLst/>
          </a:prstGeom>
          <a:solidFill>
            <a:srgbClr val="FF4B4B">
              <a:alpha val="0"/>
            </a:srgbClr>
          </a:solidFill>
          <a:ln w="152400">
            <a:solidFill>
              <a:srgbClr val="FF4B4B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9784080" y="914400"/>
            <a:ext cx="1783080" cy="1783080"/>
          </a:xfrm>
          <a:prstGeom prst="arc">
            <a:avLst/>
          </a:prstGeom>
          <a:solidFill>
            <a:srgbClr val="FFFFFF">
              <a:alpha val="0"/>
            </a:srgbClr>
          </a:solidFill>
          <a:ln w="1016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49808" y="1508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4B4B"/>
                </a:solidFill>
              </a:rPr>
              <a:t>TFM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1938528"/>
            <a:ext cx="79552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1E22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Recomendador de horarios óptimos de publicación en YouTube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749808" y="3611880"/>
            <a:ext cx="7269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F6678"/>
                </a:solidFill>
              </a:rPr>
              <a:t>Modelo de apoyo para estimar el mejor día y hora de publicación según el histórico del canal y las características del vídeo.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9808" y="4617720"/>
            <a:ext cx="6217920" cy="0"/>
          </a:xfrm>
          <a:prstGeom prst="line">
            <a:avLst/>
          </a:prstGeom>
          <a:noFill/>
          <a:ln w="15240">
            <a:solidFill>
              <a:srgbClr val="E6E9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49808" y="4892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230"/>
                </a:solidFill>
              </a:rPr>
              <a:t>Jon Urrestarazu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9808" y="53218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678"/>
                </a:solidFill>
              </a:rPr>
              <a:t>Máster en Data Science &amp; 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492740" y="5366355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Publicación óptima · Engagement · Machine Learning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FF4B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evolve</a:t>
            </a:r>
            <a:endParaRPr lang="en-US" sz="1520" dirty="0"/>
          </a:p>
        </p:txBody>
      </p:sp>
      <p:sp>
        <p:nvSpPr>
          <p:cNvPr id="3" name="Text 1"/>
          <p:cNvSpPr/>
          <p:nvPr/>
        </p:nvSpPr>
        <p:spPr>
          <a:xfrm>
            <a:off x="1779422" y="442570"/>
            <a:ext cx="914400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2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Decisiones de feature engineering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35331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6678"/>
                </a:solidFill>
              </a:rPr>
              <a:t>Objetivo: comparar cada vídeo contra su contexto histórico, no contra canales de tamaños incomparables.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874520"/>
            <a:ext cx="0" cy="3886200"/>
          </a:xfrm>
          <a:prstGeom prst="line">
            <a:avLst/>
          </a:prstGeom>
          <a:noFill/>
          <a:ln w="17780">
            <a:solidFill>
              <a:srgbClr val="E6E9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77240" y="2258568"/>
            <a:ext cx="594360" cy="0"/>
          </a:xfrm>
          <a:prstGeom prst="line">
            <a:avLst/>
          </a:prstGeom>
          <a:noFill/>
          <a:ln w="38100">
            <a:solidFill>
              <a:srgbClr val="3F7B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1508760" y="19659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230"/>
                </a:solidFill>
              </a:rPr>
              <a:t>Mediana móvil histórica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254203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230"/>
                </a:solidFill>
              </a:rPr>
              <a:t>Para cada vídeo candidato se calcula el rendimiento típico reciente del mismo canal/formato usando solo vídeos anteriores.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" y="3401568"/>
            <a:ext cx="338328" cy="475488"/>
          </a:xfrm>
          <a:prstGeom prst="roundRect">
            <a:avLst/>
          </a:prstGeom>
          <a:solidFill>
            <a:srgbClr val="E9EDF4"/>
          </a:solidFill>
          <a:ln w="12700">
            <a:solidFill>
              <a:srgbClr val="E9ED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1261872" y="3401568"/>
            <a:ext cx="338328" cy="475488"/>
          </a:xfrm>
          <a:prstGeom prst="roundRect">
            <a:avLst/>
          </a:prstGeom>
          <a:solidFill>
            <a:srgbClr val="E9EDF4"/>
          </a:solidFill>
          <a:ln w="12700">
            <a:solidFill>
              <a:srgbClr val="E9ED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1719072" y="3401568"/>
            <a:ext cx="338328" cy="475488"/>
          </a:xfrm>
          <a:prstGeom prst="roundRect">
            <a:avLst/>
          </a:prstGeom>
          <a:solidFill>
            <a:srgbClr val="E9EDF4"/>
          </a:solidFill>
          <a:ln w="12700">
            <a:solidFill>
              <a:srgbClr val="E9ED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2176272" y="3401568"/>
            <a:ext cx="338328" cy="475488"/>
          </a:xfrm>
          <a:prstGeom prst="roundRect">
            <a:avLst/>
          </a:prstGeom>
          <a:solidFill>
            <a:srgbClr val="E9EDF4"/>
          </a:solidFill>
          <a:ln w="12700">
            <a:solidFill>
              <a:srgbClr val="E9ED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633472" y="3401568"/>
            <a:ext cx="338328" cy="475488"/>
          </a:xfrm>
          <a:prstGeom prst="roundRect">
            <a:avLst/>
          </a:prstGeom>
          <a:solidFill>
            <a:srgbClr val="E9EDF4"/>
          </a:solidFill>
          <a:ln w="12700">
            <a:solidFill>
              <a:srgbClr val="E9ED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3090672" y="3401568"/>
            <a:ext cx="338328" cy="475488"/>
          </a:xfrm>
          <a:prstGeom prst="roundRect">
            <a:avLst/>
          </a:prstGeom>
          <a:solidFill>
            <a:srgbClr val="E9EDF4"/>
          </a:solidFill>
          <a:ln w="12700">
            <a:solidFill>
              <a:srgbClr val="E9ED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3547872" y="3401568"/>
            <a:ext cx="338328" cy="475488"/>
          </a:xfrm>
          <a:prstGeom prst="roundRect">
            <a:avLst/>
          </a:prstGeom>
          <a:solidFill>
            <a:srgbClr val="FF4B4B"/>
          </a:solidFill>
          <a:ln w="12700">
            <a:solidFill>
              <a:srgbClr val="FF4B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4078224" y="3639312"/>
            <a:ext cx="685800" cy="0"/>
          </a:xfrm>
          <a:prstGeom prst="line">
            <a:avLst/>
          </a:prstGeom>
          <a:noFill/>
          <a:ln w="25400">
            <a:solidFill>
              <a:srgbClr val="FF4B4B"/>
            </a:solidFill>
            <a:prstDash val="solid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901184" y="337413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230"/>
                </a:solidFill>
              </a:rPr>
              <a:t>nuevo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2230"/>
                </a:solidFill>
              </a:rPr>
              <a:t>vídeo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04672" y="418795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93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 = mediana(views_7d_est últimos N vídeos válidos)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" y="473659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5F6678"/>
                </a:solidFill>
              </a:rPr>
              <a:t>La mediana reduce el impacto de outliers: vídeos virales o atípicos no dominan el histórico del canal.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6400800" y="2258568"/>
            <a:ext cx="594360" cy="0"/>
          </a:xfrm>
          <a:prstGeom prst="line">
            <a:avLst/>
          </a:prstGeom>
          <a:noFill/>
          <a:ln w="38100">
            <a:solidFill>
              <a:srgbClr val="F4B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7132320" y="1965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230"/>
                </a:solidFill>
              </a:rPr>
              <a:t>Uso de logaritmos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28232" y="254203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230"/>
                </a:solidFill>
              </a:rPr>
              <a:t>Las visualizaciones suelen tener distribución asimétrica: pocos vídeos concentran valores muy altos.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28232" y="33101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93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log_views = log(1 + views)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428232" y="377647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D93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= log(1 + views_7d) − log(1 + baseline)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6428232" y="44622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230"/>
                </a:solidFill>
              </a:rPr>
              <a:t>Ventajas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28232" y="4773168"/>
            <a:ext cx="44348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F6678"/>
                </a:solidFill>
              </a:rPr>
              <a:t>• estabiliza la varianza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F6678"/>
                </a:solidFill>
              </a:rPr>
              <a:t>• hace comparables canales con escalas distintas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F6678"/>
                </a:solidFill>
              </a:rPr>
              <a:t>• permite </a:t>
            </a:r>
            <a:r>
              <a:rPr lang="en-US" sz="1250" dirty="0" err="1">
                <a:solidFill>
                  <a:srgbClr val="5F6678"/>
                </a:solidFill>
              </a:rPr>
              <a:t>interpretar</a:t>
            </a:r>
            <a:r>
              <a:rPr lang="en-US" sz="1250" dirty="0">
                <a:solidFill>
                  <a:srgbClr val="5F6678"/>
                </a:solidFill>
              </a:rPr>
              <a:t> (predicción) como ratio frente al baseline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6419088"/>
            <a:ext cx="10881360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640080" y="6473952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678"/>
                </a:solidFill>
              </a:rPr>
              <a:t>TFM · Recomendador de horarios de publicación · 2/3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b="1" dirty="0">
                <a:solidFill>
                  <a:srgbClr val="FF4B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evolve</a:t>
            </a:r>
            <a:endParaRPr lang="en-US" sz="1520" dirty="0"/>
          </a:p>
        </p:txBody>
      </p:sp>
      <p:sp>
        <p:nvSpPr>
          <p:cNvPr id="3" name="Text 1"/>
          <p:cNvSpPr/>
          <p:nvPr/>
        </p:nvSpPr>
        <p:spPr>
          <a:xfrm>
            <a:off x="1779422" y="442570"/>
            <a:ext cx="914400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2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Columnas mostradas en Streamlit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353312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6678"/>
                </a:solidFill>
              </a:rPr>
              <a:t>La tabla final no muestra variables post-publicación del vídeo nuevo; muestra candidatos horarios y estimaciones del modelo.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60520" y="1874520"/>
            <a:ext cx="0" cy="4160520"/>
          </a:xfrm>
          <a:prstGeom prst="line">
            <a:avLst/>
          </a:prstGeom>
          <a:noFill/>
          <a:ln w="15240">
            <a:solidFill>
              <a:srgbClr val="E6E9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001000" y="1874520"/>
            <a:ext cx="0" cy="4160520"/>
          </a:xfrm>
          <a:prstGeom prst="line">
            <a:avLst/>
          </a:prstGeom>
          <a:noFill/>
          <a:ln w="15240">
            <a:solidFill>
              <a:srgbClr val="E6E9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685800" y="2258568"/>
            <a:ext cx="594360" cy="0"/>
          </a:xfrm>
          <a:prstGeom prst="line">
            <a:avLst/>
          </a:prstGeom>
          <a:noFill/>
          <a:ln w="38100">
            <a:solidFill>
              <a:srgbClr val="3F7B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417320" y="1965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230"/>
                </a:solidFill>
              </a:rPr>
              <a:t>1 · Horario candidato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480560" y="2258568"/>
            <a:ext cx="594360" cy="0"/>
          </a:xfrm>
          <a:prstGeom prst="line">
            <a:avLst/>
          </a:prstGeom>
          <a:noFill/>
          <a:ln w="38100">
            <a:solidFill>
              <a:srgbClr val="F4B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2120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230"/>
                </a:solidFill>
              </a:rPr>
              <a:t>2 · Predicción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47888" y="2258568"/>
            <a:ext cx="594360" cy="0"/>
          </a:xfrm>
          <a:prstGeom prst="line">
            <a:avLst/>
          </a:prstGeom>
          <a:noFill/>
          <a:ln w="381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979408" y="19659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230"/>
                </a:solidFill>
              </a:rPr>
              <a:t>3 · Contexto histórico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31520" y="2578608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E2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candidate_published_at_local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27706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F6678"/>
                </a:solidFill>
              </a:rPr>
              <a:t>fecha y hora exacta evaluada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236976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E2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candidate_dayofweek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42900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F6678"/>
                </a:solidFill>
              </a:rPr>
              <a:t>día de la semana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3895344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E2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candidate_hour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08736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F6678"/>
                </a:solidFill>
              </a:rPr>
              <a:t>hora candidata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51023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E2230"/>
                </a:solidFill>
              </a:rPr>
              <a:t>Identifican cada alternativa del top-k: por ejemplo, martes a las 18:00.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4480560" y="257860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1E2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baseline_views_7d_candidate</a:t>
            </a:r>
            <a:endParaRPr lang="en-US" sz="910" dirty="0"/>
          </a:p>
        </p:txBody>
      </p:sp>
      <p:sp>
        <p:nvSpPr>
          <p:cNvPr id="22" name="Text 20"/>
          <p:cNvSpPr/>
          <p:nvPr/>
        </p:nvSpPr>
        <p:spPr>
          <a:xfrm>
            <a:off x="4480560" y="277063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5F6678"/>
                </a:solidFill>
              </a:rPr>
              <a:t>mediana histórica usada como referencia</a:t>
            </a:r>
            <a:endParaRPr lang="en-US" sz="910" dirty="0"/>
          </a:p>
        </p:txBody>
      </p:sp>
      <p:sp>
        <p:nvSpPr>
          <p:cNvPr id="23" name="Text 21"/>
          <p:cNvSpPr/>
          <p:nvPr/>
        </p:nvSpPr>
        <p:spPr>
          <a:xfrm>
            <a:off x="4480560" y="3108960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1E2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predicted_target_relative_log_views_7d</a:t>
            </a:r>
            <a:endParaRPr lang="en-US" sz="910" dirty="0"/>
          </a:p>
        </p:txBody>
      </p:sp>
      <p:sp>
        <p:nvSpPr>
          <p:cNvPr id="24" name="Text 22"/>
          <p:cNvSpPr/>
          <p:nvPr/>
        </p:nvSpPr>
        <p:spPr>
          <a:xfrm>
            <a:off x="4480560" y="330098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5F6678"/>
                </a:solidFill>
              </a:rPr>
              <a:t>salida directa del modelo en escala log</a:t>
            </a:r>
            <a:endParaRPr lang="en-US" sz="910" dirty="0"/>
          </a:p>
        </p:txBody>
      </p:sp>
      <p:sp>
        <p:nvSpPr>
          <p:cNvPr id="25" name="Text 23"/>
          <p:cNvSpPr/>
          <p:nvPr/>
        </p:nvSpPr>
        <p:spPr>
          <a:xfrm>
            <a:off x="4480560" y="3639312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1E2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predicted_ratio_vs_baseline</a:t>
            </a:r>
            <a:endParaRPr lang="en-US" sz="910" dirty="0"/>
          </a:p>
        </p:txBody>
      </p:sp>
      <p:sp>
        <p:nvSpPr>
          <p:cNvPr id="26" name="Text 24"/>
          <p:cNvSpPr/>
          <p:nvPr/>
        </p:nvSpPr>
        <p:spPr>
          <a:xfrm>
            <a:off x="4480560" y="383133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5F6678"/>
                </a:solidFill>
              </a:rPr>
              <a:t>ratio esperado frente al baseline</a:t>
            </a:r>
            <a:endParaRPr lang="en-US" sz="910" dirty="0"/>
          </a:p>
        </p:txBody>
      </p:sp>
      <p:sp>
        <p:nvSpPr>
          <p:cNvPr id="27" name="Text 25"/>
          <p:cNvSpPr/>
          <p:nvPr/>
        </p:nvSpPr>
        <p:spPr>
          <a:xfrm>
            <a:off x="4480560" y="4169664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1E2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predicted_pct_vs_baseline</a:t>
            </a:r>
            <a:endParaRPr lang="en-US" sz="910" dirty="0"/>
          </a:p>
        </p:txBody>
      </p:sp>
      <p:sp>
        <p:nvSpPr>
          <p:cNvPr id="28" name="Text 26"/>
          <p:cNvSpPr/>
          <p:nvPr/>
        </p:nvSpPr>
        <p:spPr>
          <a:xfrm>
            <a:off x="4480560" y="436168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5F6678"/>
                </a:solidFill>
              </a:rPr>
              <a:t>mejora o caída porcentual estimada</a:t>
            </a:r>
            <a:endParaRPr lang="en-US" sz="910" dirty="0"/>
          </a:p>
        </p:txBody>
      </p:sp>
      <p:sp>
        <p:nvSpPr>
          <p:cNvPr id="29" name="Text 27"/>
          <p:cNvSpPr/>
          <p:nvPr/>
        </p:nvSpPr>
        <p:spPr>
          <a:xfrm>
            <a:off x="4480560" y="4700016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1E2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predicted_views_7d</a:t>
            </a:r>
            <a:endParaRPr lang="en-US" sz="910" dirty="0"/>
          </a:p>
        </p:txBody>
      </p:sp>
      <p:sp>
        <p:nvSpPr>
          <p:cNvPr id="30" name="Text 28"/>
          <p:cNvSpPr/>
          <p:nvPr/>
        </p:nvSpPr>
        <p:spPr>
          <a:xfrm>
            <a:off x="4480560" y="489204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5F6678"/>
                </a:solidFill>
              </a:rPr>
              <a:t>views estimadas tras deshacer log/ratio</a:t>
            </a:r>
            <a:endParaRPr lang="en-US" sz="910" dirty="0"/>
          </a:p>
        </p:txBody>
      </p:sp>
      <p:sp>
        <p:nvSpPr>
          <p:cNvPr id="31" name="Text 29"/>
          <p:cNvSpPr/>
          <p:nvPr/>
        </p:nvSpPr>
        <p:spPr>
          <a:xfrm>
            <a:off x="4480560" y="553212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b="1" dirty="0">
                <a:solidFill>
                  <a:srgbClr val="D93636"/>
                </a:solidFill>
              </a:rPr>
              <a:t>El ranking se ordena por la predicción relativa, no por una visualización real futura.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8247888" y="257860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1E2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hours_since_last_post</a:t>
            </a:r>
            <a:endParaRPr lang="en-US" sz="970" dirty="0"/>
          </a:p>
        </p:txBody>
      </p:sp>
      <p:sp>
        <p:nvSpPr>
          <p:cNvPr id="33" name="Text 31"/>
          <p:cNvSpPr/>
          <p:nvPr/>
        </p:nvSpPr>
        <p:spPr>
          <a:xfrm>
            <a:off x="8247888" y="277063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F6678"/>
                </a:solidFill>
              </a:rPr>
              <a:t>horas desde el último vídeo del canal</a:t>
            </a:r>
            <a:endParaRPr lang="en-US" sz="970" dirty="0"/>
          </a:p>
        </p:txBody>
      </p:sp>
      <p:sp>
        <p:nvSpPr>
          <p:cNvPr id="34" name="Text 32"/>
          <p:cNvSpPr/>
          <p:nvPr/>
        </p:nvSpPr>
        <p:spPr>
          <a:xfrm>
            <a:off x="8247888" y="318211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1E2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posts_last_24h</a:t>
            </a:r>
            <a:endParaRPr lang="en-US" sz="970" dirty="0"/>
          </a:p>
        </p:txBody>
      </p:sp>
      <p:sp>
        <p:nvSpPr>
          <p:cNvPr id="35" name="Text 33"/>
          <p:cNvSpPr/>
          <p:nvPr/>
        </p:nvSpPr>
        <p:spPr>
          <a:xfrm>
            <a:off x="8247888" y="337413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F6678"/>
                </a:solidFill>
              </a:rPr>
              <a:t>número de publicaciones en 24 horas</a:t>
            </a:r>
            <a:endParaRPr lang="en-US" sz="970" dirty="0"/>
          </a:p>
        </p:txBody>
      </p:sp>
      <p:sp>
        <p:nvSpPr>
          <p:cNvPr id="36" name="Text 34"/>
          <p:cNvSpPr/>
          <p:nvPr/>
        </p:nvSpPr>
        <p:spPr>
          <a:xfrm>
            <a:off x="8247888" y="378561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1E2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posts_last_168h</a:t>
            </a:r>
            <a:endParaRPr lang="en-US" sz="970" dirty="0"/>
          </a:p>
        </p:txBody>
      </p:sp>
      <p:sp>
        <p:nvSpPr>
          <p:cNvPr id="37" name="Text 35"/>
          <p:cNvSpPr/>
          <p:nvPr/>
        </p:nvSpPr>
        <p:spPr>
          <a:xfrm>
            <a:off x="8247888" y="397764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F6678"/>
                </a:solidFill>
              </a:rPr>
              <a:t>número de publicaciones en 7 días</a:t>
            </a:r>
            <a:endParaRPr lang="en-US" sz="970" dirty="0"/>
          </a:p>
        </p:txBody>
      </p:sp>
      <p:sp>
        <p:nvSpPr>
          <p:cNvPr id="38" name="Text 36"/>
          <p:cNvSpPr/>
          <p:nvPr/>
        </p:nvSpPr>
        <p:spPr>
          <a:xfrm>
            <a:off x="8247888" y="438912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1E2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hist_n_valid_format</a:t>
            </a:r>
            <a:endParaRPr lang="en-US" sz="970" dirty="0"/>
          </a:p>
        </p:txBody>
      </p:sp>
      <p:sp>
        <p:nvSpPr>
          <p:cNvPr id="39" name="Text 37"/>
          <p:cNvSpPr/>
          <p:nvPr/>
        </p:nvSpPr>
        <p:spPr>
          <a:xfrm>
            <a:off x="8247888" y="458114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F6678"/>
                </a:solidFill>
              </a:rPr>
              <a:t>vídeos históricos válidos del mismo formato</a:t>
            </a:r>
            <a:endParaRPr lang="en-US" sz="970" dirty="0"/>
          </a:p>
        </p:txBody>
      </p:sp>
      <p:sp>
        <p:nvSpPr>
          <p:cNvPr id="40" name="Text 38"/>
          <p:cNvSpPr/>
          <p:nvPr/>
        </p:nvSpPr>
        <p:spPr>
          <a:xfrm>
            <a:off x="8247888" y="535838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230"/>
                </a:solidFill>
              </a:rPr>
              <a:t>Controlan saturación de publicaciones y cantidad de evidencia histórica para ese canal/formato.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0080" y="6419088"/>
            <a:ext cx="10881360" cy="0"/>
          </a:xfrm>
          <a:prstGeom prst="line">
            <a:avLst/>
          </a:prstGeom>
          <a:noFill/>
          <a:ln w="12700">
            <a:solidFill>
              <a:srgbClr val="E6E9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640080" y="6473952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6678"/>
                </a:solidFill>
              </a:rPr>
              <a:t>TFM · Recomendador de horarios de publicación · 3/3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435</Words>
  <Application>Microsoft Office PowerPoint</Application>
  <PresentationFormat>Panorámica</PresentationFormat>
  <Paragraphs>62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 Display</vt:lpstr>
      <vt:lpstr>Arial</vt:lpstr>
      <vt:lpstr>Consolas</vt:lpstr>
      <vt:lpstr>Office Theme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TFM - Recomendador de horarios de publicación</dc:title>
  <dc:subject>TFM YouTube recommender</dc:subject>
  <dc:creator>OpenAI</dc:creator>
  <cp:lastModifiedBy>Jon Urres</cp:lastModifiedBy>
  <cp:revision>2</cp:revision>
  <dcterms:created xsi:type="dcterms:W3CDTF">2026-06-10T18:15:56Z</dcterms:created>
  <dcterms:modified xsi:type="dcterms:W3CDTF">2026-06-11T17:05:06Z</dcterms:modified>
</cp:coreProperties>
</file>